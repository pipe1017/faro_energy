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Cantidad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8C3-6647-9671-720543996088}"/>
              </c:ext>
            </c:extLst>
          </c:dPt>
          <c:dPt>
            <c:idx val="1"/>
            <c:invertIfNegative val="0"/>
            <c:bubble3D val="0"/>
            <c:spPr>
              <a:solidFill>
                <a:srgbClr val="4338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C3-6647-9671-7205439960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B25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Carros
eléctricos</c:v>
                </c:pt>
                <c:pt idx="1">
                  <c:v>Puntos de
carga públicos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77000</c:v>
                </c:pt>
                <c:pt idx="1">
                  <c:v>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C3-6647-9671-7205439960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5D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49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Gancho: imaginen los carros eléctricos creciendo a tres dígitos y la infraestructura sin existir. Esa brecha es la oportunidad. Faro la cierra. Soy un proyecto con producto ya construido, no una idea en servilleta.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clave: un carro eléctrico llegando cada hora y casi sin dónde cargar. La brecha es la oportunidad de 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Marketplace de dos caras. El dueño pone el cargador y el espacio; Faro pone la plataforma, el cobro y la red; el conductor encuentra, carga y paga.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demo en vivo va aquí en la presentación real: 90 segundos mostrando el ciclo completo. Vale más que diez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wallet no es capricho técnico: es la solución de diseño al fijo de la pasarela. Esto demuestra que conozco mis unit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tu slide más fuerte. No pides permiso para existir: estás listo para el marco que apenas se crea. Si el experto en energía pregunta, cita 40123/2024, 40559/2025 y RETIE 40177/2024.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Cítalo como validación, no como copia. Si preguntan '¿y si Monta entra a Colombia?': densidad local, acuerdos con sitios y cumplimiento DIAN/RETIE/CárgaME que un recién llegado no tiene.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uses un TAM/SAM/SOM inventado: vende dirección y velocidad del mercado. Eso es más creíble en perfilamiento.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 transparente: lo simulado es buena práctica de ingeniería, no debilidad. Eliminamos el riesgo técnico; venimos por el riesgo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energía, sin disculparte por lo que falta: lo que falta ES el ask, y eso es posición de fuerza. Frase final mirando al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371600"/>
            <a:ext cx="3291840" cy="3291840"/>
          </a:xfrm>
          <a:prstGeom prst="ellipse">
            <a:avLst/>
          </a:prstGeom>
          <a:ln w="15875">
            <a:solidFill>
              <a:srgbClr val="B45309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6446520" y="-960120"/>
            <a:ext cx="2468880" cy="2468880"/>
          </a:xfrm>
          <a:prstGeom prst="ellipse">
            <a:avLst/>
          </a:prstGeom>
          <a:ln w="15875">
            <a:solidFill>
              <a:srgbClr val="4338C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Shape 2"/>
          <p:cNvSpPr/>
          <p:nvPr/>
        </p:nvSpPr>
        <p:spPr>
          <a:xfrm>
            <a:off x="6812280" y="-594360"/>
            <a:ext cx="1737360" cy="1737360"/>
          </a:xfrm>
          <a:prstGeom prst="ellipse">
            <a:avLst/>
          </a:prstGeom>
          <a:ln w="15875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7178040" y="-228600"/>
            <a:ext cx="1005840" cy="10058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17" y="42977"/>
            <a:ext cx="462686" cy="46268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78992"/>
            <a:ext cx="2697480" cy="6850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8745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Airbnb de la recarga de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vehículos eléctricos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457200" y="3337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carga inteligente para Colombia — con foco en carga de destino.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Empezamos en Medellín.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4297680"/>
            <a:ext cx="2011680" cy="0"/>
          </a:xfrm>
          <a:prstGeom prst="line">
            <a:avLst/>
          </a:prstGeom>
          <a:noFill/>
          <a:ln w="3175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Text 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 perfilamiento · Ruta de emprendimiento e incubación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Llegan los carros, faltan los enchufes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8132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Colombia adopta vehículos eléctricos a gran velocidad, pero la infraestructura de carga pública va años atrás. La brecha es enorme — y crece cada mes.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+217%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2103120" y="282549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de carros eléctricos nuevos en 2026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363016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103120" y="366674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región del país en adopción: Medellín y el Valle de Aburrá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983480" y="1371600"/>
            <a:ext cx="37033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521208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en cifras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3142456867"/>
              </p:ext>
            </p:extLst>
          </p:nvPr>
        </p:nvGraphicFramePr>
        <p:xfrm>
          <a:off x="5120640" y="1965960"/>
          <a:ext cx="3429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lados que nadie ha conectado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faltan cargadores, sobran espacios con energía ociosa. Faro conecta ambos lados.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57200" y="205740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777240" cy="7772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5" y="2541575"/>
            <a:ext cx="357530" cy="357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conductor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49808" y="3246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encuentra dónde cargar fuera de casa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 precio claro y pago simple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Faro: red amplia, mapa y pago exacto por kWh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34840" y="205740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7EAD8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4709160" y="2331720"/>
            <a:ext cx="777240" cy="7772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015" y="2541575"/>
            <a:ext cx="357530" cy="357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23560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dueño del espacio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727448" y="3246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Hotel, mall, edificio, gimnasio, parqueadero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el espacio y la energía, no el software ni el cobro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Faro: activa su espacio y atrae clientes premium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886200" y="2971800"/>
            <a:ext cx="640080" cy="640080"/>
          </a:xfrm>
          <a:prstGeom prst="ellipse">
            <a:avLst/>
          </a:prstGeom>
          <a:solidFill>
            <a:srgbClr val="2B252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022" y="3144622"/>
            <a:ext cx="294437" cy="2944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que activa el espacio ocioso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3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en carga de DESTINO (mientras te hospedas, compras o vas al gimnasio) — no carga rápida de carretera.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1817370" cy="2286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1000125" y="2487168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635" y="2684678"/>
            <a:ext cx="336499" cy="336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310128"/>
            <a:ext cx="163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Registra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1792" y="3657600"/>
            <a:ext cx="14881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dueño conecta su cargador OCPP y aparece en el mapa con su precio.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94610" y="2286000"/>
            <a:ext cx="1817370" cy="2286000"/>
          </a:xfrm>
          <a:prstGeom prst="roundRect">
            <a:avLst>
              <a:gd name="adj" fmla="val 4528"/>
            </a:avLst>
          </a:prstGeom>
          <a:solidFill>
            <a:srgbClr val="F7EAD8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3137535" y="2487168"/>
            <a:ext cx="731520" cy="73152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045" y="2684678"/>
            <a:ext cx="336499" cy="3364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86050" y="3310128"/>
            <a:ext cx="163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Carga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759202" y="3657600"/>
            <a:ext cx="14881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conductor escanea el QR y autoriza el pago, sin descargar app obligatoria.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32020" y="2286000"/>
            <a:ext cx="1817370" cy="2286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7" name="Shape 12"/>
          <p:cNvSpPr/>
          <p:nvPr/>
        </p:nvSpPr>
        <p:spPr>
          <a:xfrm>
            <a:off x="5274945" y="2487168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455" y="2684678"/>
            <a:ext cx="336499" cy="3364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23460" y="3310128"/>
            <a:ext cx="163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Mide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6612" y="3657600"/>
            <a:ext cx="14881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mide el kWh en tiempo real vía protocolo OCPP.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869430" y="2286000"/>
            <a:ext cx="1817370" cy="2286000"/>
          </a:xfrm>
          <a:prstGeom prst="roundRect">
            <a:avLst>
              <a:gd name="adj" fmla="val 4528"/>
            </a:avLst>
          </a:prstGeom>
          <a:solidFill>
            <a:srgbClr val="F7EAD8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2" name="Shape 16"/>
          <p:cNvSpPr/>
          <p:nvPr/>
        </p:nvSpPr>
        <p:spPr>
          <a:xfrm>
            <a:off x="7412355" y="2487168"/>
            <a:ext cx="731520" cy="73152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9865" y="2684678"/>
            <a:ext cx="336499" cy="33649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60870" y="3310128"/>
            <a:ext cx="163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Reparte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034022" y="3657600"/>
            <a:ext cx="14881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 exacto y reparto automático: dueño recibe su saldo, Faro su comisión.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híbrido, diseñado para la rentabilidad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SaaS plano que genera cancelaciones, ni comisión sola que pierde dinero en cargas pequeñas. Lo mejor de ambos.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24993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713232" y="2377440"/>
            <a:ext cx="713232" cy="713232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05" y="2570013"/>
            <a:ext cx="328087" cy="3280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315468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de plataforma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4944" y="352044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 baja por cargador/mes. Ingreso estable que cubre operación y monitoreo.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22320" y="2148840"/>
            <a:ext cx="2499360" cy="2377440"/>
          </a:xfrm>
          <a:prstGeom prst="roundRect">
            <a:avLst>
              <a:gd name="adj" fmla="val 3462"/>
            </a:avLst>
          </a:prstGeom>
          <a:solidFill>
            <a:srgbClr val="F7EAD8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3578352" y="2377440"/>
            <a:ext cx="713232" cy="713232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925" y="2570013"/>
            <a:ext cx="328087" cy="3280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0064" y="315468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12–15%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60064" y="352044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cada transacción. Captura el crecimiento a medida que sube el volumen.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87440" y="2148840"/>
            <a:ext cx="24993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7" name="Shape 12"/>
          <p:cNvSpPr/>
          <p:nvPr/>
        </p:nvSpPr>
        <p:spPr>
          <a:xfrm>
            <a:off x="6443472" y="2377440"/>
            <a:ext cx="713232" cy="713232"/>
          </a:xfrm>
          <a:prstGeom prst="ellipse">
            <a:avLst/>
          </a:prstGeom>
          <a:solidFill>
            <a:srgbClr val="2B252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045" y="2570013"/>
            <a:ext cx="328087" cy="32808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25184" y="315468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prepago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25184" y="352044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conductor recarga saldo y diluye el costo fijo de la pasarela ($700 + 2,65% por transacción).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REGULATORIO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ya exige lo que nosotros construimos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457200" y="15179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nueva regulación del Ministerio de Minas y Energía no solo permite nuestro modelo: lo vuelve obligatorio.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685800" y="2350008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2547518"/>
            <a:ext cx="336499" cy="336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obligatorio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554480" y="26334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estación pública debe conectarse vía protocolo abierto OCPP (Res. 40123/2024). Es nuestro backend.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21031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4983480" y="2350008"/>
            <a:ext cx="731520" cy="73152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990" y="2547518"/>
            <a:ext cx="336499" cy="3364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5216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OCPI en tiempo real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852160" y="26334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estado, precio y energía vía OCPI (Res. 40559/2025). Ya lo integramos.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6118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Shape 12"/>
          <p:cNvSpPr/>
          <p:nvPr/>
        </p:nvSpPr>
        <p:spPr>
          <a:xfrm>
            <a:off x="685800" y="3858768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" y="4056278"/>
            <a:ext cx="336499" cy="3364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776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abierto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554480" y="4142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 sin descarga ni suscripción obligatoria. Nuestro wallet es opcional, no un muro.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54880" y="36118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Shape 16"/>
          <p:cNvSpPr/>
          <p:nvPr/>
        </p:nvSpPr>
        <p:spPr>
          <a:xfrm>
            <a:off x="4983480" y="3858768"/>
            <a:ext cx="731520" cy="73152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0990" y="4056278"/>
            <a:ext cx="336499" cy="33649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52160" y="3776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llave en mano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5852160" y="4142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en CárgaME, dictamen RETIE e incentivos (exención de IVA y aranceles): lo hacemos por el dueño.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Y DIFERENCIADOR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probado afuera, foso construido aquí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37947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2026310"/>
            <a:ext cx="336499" cy="3364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validado internacionalmente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49808" y="274320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 (Europa): plataforma de operación con comisión + suscripción. Su tesis: la restricción real es la operación y el uptime, no el hardware.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ChargePoint (EE.UU.): empresa pública que probó el modelo red + software a gran escala.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17720" y="1600200"/>
            <a:ext cx="3794760" cy="3017520"/>
          </a:xfrm>
          <a:prstGeom prst="roundRect">
            <a:avLst>
              <a:gd name="adj" fmla="val 2727"/>
            </a:avLst>
          </a:prstGeom>
          <a:solidFill>
            <a:srgbClr val="F7EAD8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1" name="Text 7"/>
          <p:cNvSpPr/>
          <p:nvPr/>
        </p:nvSpPr>
        <p:spPr>
          <a:xfrm>
            <a:off x="48920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foso competitivo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892040" y="2240280"/>
            <a:ext cx="548640" cy="5486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173" y="238841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2203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 por zona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577840" y="24963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Dominamos un barrio antes de expandir; red densa &gt; cargadores sueltos.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892040" y="3017520"/>
            <a:ext cx="548640" cy="5486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173" y="316565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Balanceo dinámico de carga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577840" y="32735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cargadores sin obra eléctrica de millones. Avalado por la guía oficial.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892040" y="3794760"/>
            <a:ext cx="548640" cy="5486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173" y="3942893"/>
            <a:ext cx="252374" cy="25237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77840" y="3758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OCPI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577840" y="40507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Aparecemos en PlugShare y Google Maps; el conductor nos encuentra.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Y MOMENTO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momento exacto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muy temprano (ya hay demanda real y creciente) ni muy tarde (los grandes son lentos en software y se enfocan en carga rápida de carretera).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49936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1318260" y="2514600"/>
            <a:ext cx="777240" cy="7772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115" y="2724455"/>
            <a:ext cx="357530" cy="357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38328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en aceleración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38862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de eléctricos creciendo a tres dígitos cada año en Colombia.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22320" y="2286000"/>
            <a:ext cx="2499360" cy="2240280"/>
          </a:xfrm>
          <a:prstGeom prst="roundRect">
            <a:avLst>
              <a:gd name="adj" fmla="val 3673"/>
            </a:avLst>
          </a:prstGeom>
          <a:solidFill>
            <a:srgbClr val="F7EAD8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4183380" y="2514600"/>
            <a:ext cx="777240" cy="7772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235" y="2724455"/>
            <a:ext cx="357530" cy="357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9480" y="338328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enfocado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05200" y="38862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Medellín, 2ª región del país, como primera plaza para ganar densidad.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87440" y="2286000"/>
            <a:ext cx="249936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7" name="Shape 12"/>
          <p:cNvSpPr/>
          <p:nvPr/>
        </p:nvSpPr>
        <p:spPr>
          <a:xfrm>
            <a:off x="7048500" y="2514600"/>
            <a:ext cx="777240" cy="7772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355" y="2724455"/>
            <a:ext cx="357530" cy="3575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24600" y="338328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70320" y="38862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escalable a Bogotá, Cali y el Eje Cafetero zona por zona.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98" y="274320"/>
            <a:ext cx="207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ya está armado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Tenemos el producto completo funcionando de punta a punta. El riesgo técnico ya está resuelto; lo que falta es la calle.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411480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94360" cy="59436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97" y="2492197"/>
            <a:ext cx="273406" cy="2734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construido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8096" y="3017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OCPP + app móvil + página web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Wallet, mensualidad y usuarios de prueba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 y reparto automático funcionando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completo validado en pruebas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937760" y="2148840"/>
            <a:ext cx="4114800" cy="2423160"/>
          </a:xfrm>
          <a:prstGeom prst="roundRect">
            <a:avLst>
              <a:gd name="adj" fmla="val 3396"/>
            </a:avLst>
          </a:prstGeom>
          <a:solidFill>
            <a:srgbClr val="F7EAD8"/>
          </a:solidFill>
          <a:ln/>
          <a:effectLst>
            <a:outerShdw blurRad="114300" dist="38100" dir="5400000" algn="bl" rotWithShape="0">
              <a:srgbClr val="2B252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5212080" y="2331720"/>
            <a:ext cx="594360" cy="59436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557" y="2492197"/>
            <a:ext cx="273406" cy="2734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97880" y="23591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siguiente paso (con honestidad)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48656" y="29718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cargadores simulados y pagos en sandbox (a propósito, para probar sin riesgo)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Falta: primer cargador real + Wompi producción + facturación DIAN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primeros pagos reales en un sitio de Medellín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Y LO QUE BUSCAMOS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dónde vamos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29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2" y="192847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48716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Densidad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78892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carga AC de destino concentrada en una zona de Medellín.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07080" y="1554480"/>
            <a:ext cx="2529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Shape 7"/>
          <p:cNvSpPr/>
          <p:nvPr/>
        </p:nvSpPr>
        <p:spPr>
          <a:xfrm>
            <a:off x="3535680" y="1755648"/>
            <a:ext cx="640080" cy="64008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502" y="192847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8248" y="248716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Interoperabilidad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08248" y="278892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terceros y carga rápida DC vía OCPI. Crecimiento capital-ligero.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56960" y="1554480"/>
            <a:ext cx="2529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Shape 11"/>
          <p:cNvSpPr/>
          <p:nvPr/>
        </p:nvSpPr>
        <p:spPr>
          <a:xfrm>
            <a:off x="6385560" y="1755648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382" y="1928470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8128" y="248716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La red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8128" y="278892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5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la app por defecto del conductor eléctrico colombiano.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5"/>
          <p:cNvSpPr/>
          <p:nvPr/>
        </p:nvSpPr>
        <p:spPr>
          <a:xfrm>
            <a:off x="777240" y="3566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buscamos en la ruta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77240" y="39502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A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 para pasar de sandbox a producción    ·    Red para firmar los primeros 5–10 sitios reales    ·    Mentoría regulatoria y tributaria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"Tenemos el motor; lo que falta es encenderlo."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Macintosh PowerPoint</Application>
  <PresentationFormat>On-screen Show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 Energy — Perfilamiento</dc:title>
  <dc:subject>PptxGenJS Presentation</dc:subject>
  <dc:creator>Faro Energy</dc:creator>
  <cp:lastModifiedBy>Felipe Ruiz Zea</cp:lastModifiedBy>
  <cp:revision>2</cp:revision>
  <dcterms:created xsi:type="dcterms:W3CDTF">2026-06-19T17:46:46Z</dcterms:created>
  <dcterms:modified xsi:type="dcterms:W3CDTF">2026-06-19T18:43:46Z</dcterms:modified>
</cp:coreProperties>
</file>